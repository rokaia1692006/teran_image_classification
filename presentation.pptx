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726" y="2287041"/>
            <a:ext cx="3702397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791866"/>
            <a:ext cx="900112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Convolutional Neural Networks Made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170908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How machines learn to see, recognize, and understand the visual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00750" y="3100387"/>
            <a:ext cx="3990498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F8FAFC"/>
                </a:solidFill>
                <a:latin typeface="Plus Jakarta Sans"/>
              </a:rPr>
              <a:t>1. What is a CNN?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2225" y="3852862"/>
            <a:ext cx="70675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Understanding the biological inspiration and fundamental purpose of visual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2162"/>
            <a:ext cx="5334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62162"/>
            <a:ext cx="50673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Images are Numbers: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To a computer, a photograph is simply a 2D grid of pixel numbers ranging from 0 (black) to 255 (white).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00337"/>
            <a:ext cx="50673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Color Channels: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Color images consist of three overlapping grid layers: Red, Green, and Blue (RGB).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38512"/>
            <a:ext cx="50673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Spatial Relationships: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Nearby pixels form meaningful patterns like edges, curves, and textures.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976687"/>
            <a:ext cx="50673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The Challenge: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Small changes in lighting or angle alter raw pixel numbers entirely, requiring smart algorithms.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2162"/>
            <a:ext cx="53340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How Computers See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81212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19387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57562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95737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5334000" cy="2433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59843"/>
            <a:ext cx="5334000" cy="24336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874168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Plus Jakarta Sans SemiBold"/>
              </a:rPr>
              <a:t>Standard Neural Network (MLP)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36118"/>
            <a:ext cx="4705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Flattens the Input: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Flattens 2D images into 1D arrays, destroying spatial context and pixel relationships.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36193"/>
            <a:ext cx="47053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Too Many Parameters: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 1000x1000 image generates millions of inputs, leading to slow training and severe overfitting.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874168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Plus Jakarta Sans SemiBold"/>
              </a:rPr>
              <a:t>Convolutional Neural Network (CNN)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236118"/>
            <a:ext cx="4705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Preserves 2D Structure: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Processes pixels in local grid neighborhoods, keeping visual spatial relationships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836193"/>
            <a:ext cx="4705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Parameter Efficiency: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Uses small sliding filters repeatedly across the image, dramatically reducing weight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Traditional Networks vs CNNs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5607" y="3100387"/>
            <a:ext cx="628078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F8FAFC"/>
                </a:solidFill>
                <a:latin typeface="Plus Jakarta Sans"/>
              </a:rPr>
              <a:t>2. Building Blocks of a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5675" y="3852862"/>
            <a:ext cx="5200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step-by-step tour through the core architectural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544068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Convolution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574131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Plus Jakarta Sans SemiBold"/>
              </a:rPr>
              <a:t>Scanning with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36081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The convolution layer is the primary engine of a CNN. A small matrix called a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filter (or kernel)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slides across the image pixel by pixel.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536156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At each position, it computes mathematical dot products to detect specific visual features like horizontal lines, vertical edges, or sharp color contrast.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79118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The output is a simplified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Feature Map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highlighting where key patterns exist in the photo.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2193"/>
            <a:ext cx="2590800" cy="2928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312193"/>
            <a:ext cx="2590800" cy="2928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12193"/>
            <a:ext cx="2590800" cy="2928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312193"/>
            <a:ext cx="2590800" cy="29289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88418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274218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1. Convolution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36168"/>
            <a:ext cx="20383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Applies sliding filters to detect local features like edges, textures, and simple geometric shapes.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125" y="2588418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67125" y="3274218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2. ReLU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125" y="3636168"/>
            <a:ext cx="20383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Introduces non-linearity by replacing negative values with zero, enabling complex pattern learning.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588418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274218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3. Pooling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636168"/>
            <a:ext cx="203835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Downsamples feature maps to reduce size, save computation, and make detection position-invariant.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5925" y="2588418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5925" y="3274218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4. Fully Connected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5925" y="3636168"/>
            <a:ext cx="20383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Combines all extracted high-level features to make the final prediction or classification output.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2721768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475" y="2721768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4162" y="2721768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0700" y="2721768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Key Layers Inside a CNN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0812"/>
            <a:ext cx="5334000" cy="2171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081337"/>
            <a:ext cx="49339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2563EB"/>
                </a:solidFill>
                <a:latin typeface="Plus Jakarta Sans ExtraBold"/>
              </a:rPr>
              <a:t>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4224337"/>
            <a:ext cx="49339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E3A8A"/>
                </a:solidFill>
                <a:latin typeface="Inter"/>
              </a:rPr>
              <a:t>Parameter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874168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Why CNNs Scale So Effectively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36118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Instead of learning unique weights for every individual pixel position, a CNN reuses the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same filter weights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across the entire image.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836193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Because an edge detector filter works equally well in the top-left or bottom-right corner, parameter sharing drastically lowers memory needs and prevents overfitting.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Efficiency of Parameter Sharing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43362"/>
            <a:ext cx="2541240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414587"/>
            <a:ext cx="2541240" cy="1095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43362"/>
            <a:ext cx="2541240" cy="1095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414587"/>
            <a:ext cx="2541240" cy="10953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576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995" y="424338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2563EB"/>
                </a:solidFill>
                <a:latin typeface="Plus Jakarta Sans SemiBold"/>
              </a:rPr>
              <a:t>Step 1: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38662"/>
            <a:ext cx="214119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Raw pixel matrix enters the network (e.g., 224x224 RGB image).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614612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2563EB"/>
                </a:solidFill>
                <a:latin typeface="Plus Jakarta Sans SemiBold"/>
              </a:rPr>
              <a:t>Step 2: Low-Level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909887"/>
            <a:ext cx="21411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Early layers detect simple lines, curves, and color gradients.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24338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2563EB"/>
                </a:solidFill>
                <a:latin typeface="Plus Jakarta Sans SemiBold"/>
              </a:rPr>
              <a:t>Step 3: High-Level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538662"/>
            <a:ext cx="21411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Deeper layers combine edges into ears, eyes, or wheel shapes.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614612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2563EB"/>
                </a:solidFill>
                <a:latin typeface="Plus Jakarta Sans SemiBold"/>
              </a:rPr>
              <a:t>Step 4: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909887"/>
            <a:ext cx="214119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Final dense layer computes final scores (e.g., "Cat: 98%").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How an Image Passes Through a CNN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46870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2790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8709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54629" y="36814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5512"/>
            <a:ext cx="3530649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195512"/>
            <a:ext cx="3530649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195512"/>
            <a:ext cx="3530649" cy="2190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3233" y="4538662"/>
            <a:ext cx="370718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lus Jakarta Sans SemiBold"/>
              </a:rPr>
              <a:t>Medical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14887"/>
            <a:ext cx="35306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Detects tumors, lesions, and anomalies in X-rays, CT scans, and MRIs with high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2483" y="4538662"/>
            <a:ext cx="370718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lus Jakarta Sans SemiBold"/>
              </a:rPr>
              <a:t>Self-Driving Cars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0749" y="4814887"/>
            <a:ext cx="35306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Identifies pedestrians, lane markers, traffic signs, and obstacles in real-time video feeds.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732" y="4538662"/>
            <a:ext cx="370718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lus Jakarta Sans SemiBold"/>
              </a:rPr>
              <a:t>Facial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9999" y="4814887"/>
            <a:ext cx="35306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Powers biometric security unlocking, photo tagging, and surveillance verification systems.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95512"/>
            <a:ext cx="3530649" cy="2190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749" y="2195512"/>
            <a:ext cx="3530649" cy="2190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99" y="2195512"/>
            <a:ext cx="3530649" cy="2190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Real-World CNN Applications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1049000" cy="5210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652962"/>
            <a:ext cx="11049000" cy="7905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805362"/>
            <a:ext cx="10668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Key Takeaway: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The introduction of CNNs in 2012 revolutionized computer vision, quickly surpassing human-level accuracy (95%) in standard image classification benchmarks.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652962"/>
            <a:ext cx="38100" cy="790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Recognition Accuracy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524125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38525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Thank you! You now understand the basic building blocks of modern computer 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3385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Inter Medium"/>
              </a:rPr>
              <a:t>Convolutional Neural Networks • Artificial Intelligence Fundamentals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76375" y="1852612"/>
            <a:ext cx="9239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76375" y="2624137"/>
            <a:ext cx="9239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76375" y="3395662"/>
            <a:ext cx="9239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76375" y="4167187"/>
            <a:ext cx="9239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76375" y="2614612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76375" y="2614612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6375" y="3386137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76375" y="3386137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76375" y="4157662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76375" y="4157662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6375" y="4929187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76375" y="4929187"/>
            <a:ext cx="9239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19954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71750" y="2002631"/>
            <a:ext cx="8143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https://miro.medium.com/v2/resize:fit:1400/1*f4kA40PHOrdytAcFvtSIeQ.png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1750" y="2235993"/>
            <a:ext cx="8143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276701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71750" y="2774156"/>
            <a:ext cx="8143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https://dennybritz.com/wp-content/uploads/2015/11/Screen-Shot-2015-11-06-at-12.05.40-PM.png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1750" y="3007518"/>
            <a:ext cx="8143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dennybritz.com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375" y="3538537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71750" y="3545681"/>
            <a:ext cx="8143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https://www.labellerr.com/blog/content/images/2023/04/C7xbmzZX0AE5VXQ.jpg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750" y="3779043"/>
            <a:ext cx="8143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www.labellerr.com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375" y="431006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71750" y="4317206"/>
            <a:ext cx="8143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https://blogs.nvidia.com/wp-content/uploads/2019/04/ADAS-IMG_0052.jpg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1750" y="4550568"/>
            <a:ext cx="8143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blogs.nvidia.com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375" y="5081587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71750" y="5088731"/>
            <a:ext cx="8143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https://aussietimesheets.com.au/cdn/shop/files/AussieTimeSheets-8_2ba188b7-2b11-450e-8b7e-f8537436c07d_2048x.jpg?v=1741584975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0" y="5322093"/>
            <a:ext cx="8143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aussietimesheets.com.au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476250"/>
            <a:ext cx="1144143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476250"/>
            <a:ext cx="4762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